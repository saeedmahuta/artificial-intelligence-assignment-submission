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3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411E-8478-4401-A8CF-3E447C0BE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38352-B5E9-4FEB-8E1B-FCB877132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3C194-CD1B-4DD9-B581-D41DC822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D8F17-55A3-4D21-B023-3800873A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47CBB-FDAD-46F2-A337-AF50298E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4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C590-66B5-4F1B-92F0-7621E46B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AFFC2-D0CD-4303-B1A9-11AAAC698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FA21F-998D-4953-81F7-D93D508D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D2EE-410C-4745-8477-B485B8BE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DC65-7B1C-428B-AB21-17CF30CD1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E172-00D0-4BF7-9226-A21849D2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8CB7-BC23-4D1F-91A6-9977379F3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4B430-F529-4BC9-82A4-B01EC9C5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3DAD1-0907-476A-A0BB-AA605360C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5C824-6EBA-4154-BC30-715B27C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47FD-24AA-4280-A207-CE5DD3B3E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C8A1E-FFFF-400B-9214-5E79EC691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031D6-313C-45D8-BD2B-6DFF5D574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2EDB7-0963-47D2-BEB2-9F1F4E0FC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BFD7F-5907-48CD-A134-6EBB92BD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690ED-9918-4821-8A69-79F31F8C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842D-B346-479B-911B-A6A94BBE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74FC2-FED2-45D6-9047-0E105B3D5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D3DFE-5AF0-49C4-8781-5B6ADDCA5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C8859-46E3-4DA5-8757-F9D51C641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85C4D-77D3-4BBE-ACE5-3E91B71C15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80A78-A79D-49BA-B1AA-85779EAAB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4A2278-0432-44C0-A415-3A75C71E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B436F6-294C-4E9B-9685-7CD08ED6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0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997F-6C99-4792-B18F-2E2B9448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60BFE8-A714-4E0F-AFF1-4CDE254E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237CC-DEF9-4EF9-87B5-264C7129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A3C08-EBEE-4323-B106-20C194E0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8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7F77A-908C-408D-83C7-FDC13285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E10B6-DDFF-4164-88C5-BFCFF5F7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83842-5FF8-48B8-B00E-9D613E69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6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AB62-C1C3-4575-9F12-4992CBEC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9C431-047A-46D2-9969-1E55945FD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74033-68DF-4512-B707-7922FA1C8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C0466-7239-401F-AA8A-A097BFA0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3510E-79B8-4817-81EA-A809DFF3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F6062-072F-4450-9B21-7CBFEFA2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28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BD8F-BCCF-4981-AD16-9635C330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D7330-6D77-4F82-9E73-E41F4096B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D3628-84A9-4B2A-A015-E8AB3921E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EFBA3-1E81-42D8-88D4-16F7E37A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3838B-4524-49D4-9C53-4EF68B4E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48FEE-77AA-4FEE-A8F3-8303B9AE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8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A5F0-72DF-45AC-8339-B838021F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F4F99-21EF-4554-86B3-73E32C55B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307C3-1DAC-4F8C-9923-1AE8F69D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92BA8-E29B-48FC-A2DE-891420C3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76104-D5E6-4F2C-92C2-39F83130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8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94FB1-4D31-4A97-8A67-5DD8F587F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130E8-9E50-4407-A640-E4D8B4E1B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E31A0-6263-43F3-B187-DE7A005D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08FAF-53F0-4F0F-A9B4-B0B93D73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9A624-16FB-43E7-AA37-4975E407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8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73D6E-734E-4B8A-A990-13F70E175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06E9-5EE6-48E6-9722-89302225D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D4249-0E9D-4EAA-B694-9772938F8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E2805-2453-4B34-A30A-744071B5AF4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9CCC-6432-406D-AAFB-D976244AB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EF012-4EB4-4B29-9852-1483A47CB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09A70-A61B-4FA2-94B6-62C3153F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5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2A72-8B2F-40FF-A2DF-DB5085274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ANIMATING A RECURSIVE AI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67854-CE8D-42D2-AB51-7DC2A16C4D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MISSIONARIES AND CANNABIS PROBLEM</a:t>
            </a:r>
          </a:p>
          <a:p>
            <a:r>
              <a:rPr lang="en-US" dirty="0"/>
              <a:t>CSC 309 – ARTIFICIAL INTELLIGENCE</a:t>
            </a:r>
          </a:p>
          <a:p>
            <a:r>
              <a:rPr lang="en-US" dirty="0"/>
              <a:t>GROUP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0491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FA02-C54C-4707-AA2C-45762DEA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THE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F4730-A47A-4323-8B06-4844FEFD2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This Animation Shows</a:t>
            </a:r>
          </a:p>
          <a:p>
            <a:r>
              <a:rPr lang="en-US" dirty="0"/>
              <a:t>This animation visualizes a recursive AI state-space search</a:t>
            </a:r>
          </a:p>
          <a:p>
            <a:r>
              <a:rPr lang="en-US" dirty="0"/>
              <a:t>Each slide represents one recursive call</a:t>
            </a:r>
          </a:p>
          <a:p>
            <a:r>
              <a:rPr lang="en-US" dirty="0"/>
              <a:t>The AI explores valid states until the goal state is reached</a:t>
            </a:r>
          </a:p>
          <a:p>
            <a:r>
              <a:rPr lang="en-US" dirty="0"/>
              <a:t>Invalid states are automatically discarded(backtracking)</a:t>
            </a:r>
          </a:p>
        </p:txBody>
      </p:sp>
    </p:spTree>
    <p:extLst>
      <p:ext uri="{BB962C8B-B14F-4D97-AF65-F5344CB8AC3E}">
        <p14:creationId xmlns:p14="http://schemas.microsoft.com/office/powerpoint/2010/main" val="324384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1AF6-BD14-4EFC-B952-5C8295EB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AI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09B90-25D1-45B7-8895-4F0395B52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the Recursive AI works</a:t>
            </a:r>
          </a:p>
          <a:p>
            <a:r>
              <a:rPr lang="en-US" dirty="0"/>
              <a:t>Start from the initial state</a:t>
            </a:r>
          </a:p>
          <a:p>
            <a:r>
              <a:rPr lang="en-US" dirty="0"/>
              <a:t>Generate all valid moves</a:t>
            </a:r>
          </a:p>
          <a:p>
            <a:r>
              <a:rPr lang="en-US" dirty="0"/>
              <a:t>Recursively explore each new state</a:t>
            </a:r>
          </a:p>
          <a:p>
            <a:r>
              <a:rPr lang="en-US" dirty="0"/>
              <a:t>If a state violates constraints, you backtrack</a:t>
            </a:r>
          </a:p>
          <a:p>
            <a:r>
              <a:rPr lang="en-US" dirty="0"/>
              <a:t>Stop when the goal state is found</a:t>
            </a:r>
          </a:p>
        </p:txBody>
      </p:sp>
    </p:spTree>
    <p:extLst>
      <p:ext uri="{BB962C8B-B14F-4D97-AF65-F5344CB8AC3E}">
        <p14:creationId xmlns:p14="http://schemas.microsoft.com/office/powerpoint/2010/main" val="299373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84BA-B14C-4F2A-943C-3506B9A3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LEGEND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46010-245B-4516-894C-C89185AC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SYMBOLS USED IN THE ANIMATION</a:t>
            </a:r>
          </a:p>
          <a:p>
            <a:pPr marL="0" indent="0">
              <a:buNone/>
            </a:pPr>
            <a:r>
              <a:rPr lang="en-US" dirty="0"/>
              <a:t>         for Missionaries     </a:t>
            </a:r>
          </a:p>
          <a:p>
            <a:pPr marL="0" indent="0">
              <a:buNone/>
            </a:pPr>
            <a:r>
              <a:rPr lang="en-US" dirty="0"/>
              <a:t>         for Cannibal</a:t>
            </a:r>
          </a:p>
          <a:p>
            <a:pPr marL="0" indent="0">
              <a:buNone/>
            </a:pPr>
            <a:r>
              <a:rPr lang="en-US" dirty="0"/>
              <a:t>          for boat</a:t>
            </a:r>
          </a:p>
          <a:p>
            <a:pPr marL="0" indent="0">
              <a:buNone/>
            </a:pPr>
            <a:r>
              <a:rPr lang="en-US" dirty="0"/>
              <a:t>                 for river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Layout: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61B630-2AB0-4735-A8BF-D7395FB1159E}"/>
              </a:ext>
            </a:extLst>
          </p:cNvPr>
          <p:cNvSpPr/>
          <p:nvPr/>
        </p:nvSpPr>
        <p:spPr>
          <a:xfrm>
            <a:off x="838200" y="2256183"/>
            <a:ext cx="655983" cy="487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4DBD8D-31A7-4176-8CA3-3ACDDB8B2C5D}"/>
              </a:ext>
            </a:extLst>
          </p:cNvPr>
          <p:cNvSpPr/>
          <p:nvPr/>
        </p:nvSpPr>
        <p:spPr>
          <a:xfrm>
            <a:off x="892864" y="2765943"/>
            <a:ext cx="655983" cy="487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B8DFA9-5276-40BA-B581-E0C57612B1B8}"/>
              </a:ext>
            </a:extLst>
          </p:cNvPr>
          <p:cNvSpPr/>
          <p:nvPr/>
        </p:nvSpPr>
        <p:spPr>
          <a:xfrm>
            <a:off x="892864" y="3862301"/>
            <a:ext cx="1202635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7B6B8F-3241-41F5-B8B6-3EDC6F55EB67}"/>
              </a:ext>
            </a:extLst>
          </p:cNvPr>
          <p:cNvSpPr/>
          <p:nvPr/>
        </p:nvSpPr>
        <p:spPr>
          <a:xfrm>
            <a:off x="1142999" y="5167311"/>
            <a:ext cx="1043609" cy="765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 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6F20B4-C3B0-4950-B83A-2D78349F6FE1}"/>
              </a:ext>
            </a:extLst>
          </p:cNvPr>
          <p:cNvSpPr/>
          <p:nvPr/>
        </p:nvSpPr>
        <p:spPr>
          <a:xfrm>
            <a:off x="4674703" y="5167311"/>
            <a:ext cx="1043609" cy="765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BANK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46F35-670D-4D1B-8490-E206D14BD229}"/>
              </a:ext>
            </a:extLst>
          </p:cNvPr>
          <p:cNvSpPr/>
          <p:nvPr/>
        </p:nvSpPr>
        <p:spPr>
          <a:xfrm>
            <a:off x="2829338" y="5704024"/>
            <a:ext cx="1202635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10" name="Flowchart: Display 9">
            <a:extLst>
              <a:ext uri="{FF2B5EF4-FFF2-40B4-BE49-F238E27FC236}">
                <a16:creationId xmlns:a16="http://schemas.microsoft.com/office/drawing/2014/main" id="{07A0CC30-2877-4BBA-BE43-12C007775FB7}"/>
              </a:ext>
            </a:extLst>
          </p:cNvPr>
          <p:cNvSpPr/>
          <p:nvPr/>
        </p:nvSpPr>
        <p:spPr>
          <a:xfrm>
            <a:off x="916055" y="3429000"/>
            <a:ext cx="655983" cy="352562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3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18CD5-6077-42B5-857A-EFC5D314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STATE (STEP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97EE0-8A9C-476B-BC6E-62FCD8643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4"/>
          </a:xfrm>
        </p:spPr>
        <p:txBody>
          <a:bodyPr/>
          <a:lstStyle/>
          <a:p>
            <a:r>
              <a:rPr lang="en-US" dirty="0"/>
              <a:t>Step 0: Initial State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C1E43A-141C-43EF-B3D4-D7EE227C8587}"/>
              </a:ext>
            </a:extLst>
          </p:cNvPr>
          <p:cNvSpPr/>
          <p:nvPr/>
        </p:nvSpPr>
        <p:spPr>
          <a:xfrm>
            <a:off x="1075081" y="240868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1CE42E-76FE-4236-9ACF-A22B20E20CCA}"/>
              </a:ext>
            </a:extLst>
          </p:cNvPr>
          <p:cNvSpPr/>
          <p:nvPr/>
        </p:nvSpPr>
        <p:spPr>
          <a:xfrm>
            <a:off x="1919909" y="239755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6AEB43-903F-4272-AF71-E71710A38B25}"/>
              </a:ext>
            </a:extLst>
          </p:cNvPr>
          <p:cNvSpPr/>
          <p:nvPr/>
        </p:nvSpPr>
        <p:spPr>
          <a:xfrm>
            <a:off x="2781300" y="2354384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AD52C9-AC64-47AE-936C-ACDB7FAA311E}"/>
              </a:ext>
            </a:extLst>
          </p:cNvPr>
          <p:cNvSpPr/>
          <p:nvPr/>
        </p:nvSpPr>
        <p:spPr>
          <a:xfrm>
            <a:off x="1152939" y="299835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0E865B-CE6B-4C26-A463-D43ACCA840DB}"/>
              </a:ext>
            </a:extLst>
          </p:cNvPr>
          <p:cNvSpPr/>
          <p:nvPr/>
        </p:nvSpPr>
        <p:spPr>
          <a:xfrm>
            <a:off x="2014330" y="2958004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1E2864-1D54-4662-9655-D5C7E3622E6C}"/>
              </a:ext>
            </a:extLst>
          </p:cNvPr>
          <p:cNvSpPr/>
          <p:nvPr/>
        </p:nvSpPr>
        <p:spPr>
          <a:xfrm>
            <a:off x="2847561" y="2958004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A8C79E-0E53-4E9D-B0FC-03D1CA548A83}"/>
              </a:ext>
            </a:extLst>
          </p:cNvPr>
          <p:cNvSpPr/>
          <p:nvPr/>
        </p:nvSpPr>
        <p:spPr>
          <a:xfrm>
            <a:off x="1152939" y="3518452"/>
            <a:ext cx="3389244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 BANK</a:t>
            </a:r>
          </a:p>
        </p:txBody>
      </p:sp>
      <p:sp>
        <p:nvSpPr>
          <p:cNvPr id="12" name="Flowchart: Display 11">
            <a:extLst>
              <a:ext uri="{FF2B5EF4-FFF2-40B4-BE49-F238E27FC236}">
                <a16:creationId xmlns:a16="http://schemas.microsoft.com/office/drawing/2014/main" id="{EBA76CC8-688A-4119-A056-C903F17681D5}"/>
              </a:ext>
            </a:extLst>
          </p:cNvPr>
          <p:cNvSpPr/>
          <p:nvPr/>
        </p:nvSpPr>
        <p:spPr>
          <a:xfrm>
            <a:off x="3394213" y="2854756"/>
            <a:ext cx="1370770" cy="522995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BOAT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142142-1C0E-44B3-90D7-04960CF51BB9}"/>
              </a:ext>
            </a:extLst>
          </p:cNvPr>
          <p:cNvSpPr/>
          <p:nvPr/>
        </p:nvSpPr>
        <p:spPr>
          <a:xfrm>
            <a:off x="5257800" y="4204252"/>
            <a:ext cx="2802835" cy="337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F488FF-86BF-4A44-A603-2EBECBB93AA2}"/>
              </a:ext>
            </a:extLst>
          </p:cNvPr>
          <p:cNvSpPr/>
          <p:nvPr/>
        </p:nvSpPr>
        <p:spPr>
          <a:xfrm>
            <a:off x="8435008" y="3518452"/>
            <a:ext cx="2918791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BANK</a:t>
            </a:r>
          </a:p>
        </p:txBody>
      </p:sp>
    </p:spTree>
    <p:extLst>
      <p:ext uri="{BB962C8B-B14F-4D97-AF65-F5344CB8AC3E}">
        <p14:creationId xmlns:p14="http://schemas.microsoft.com/office/powerpoint/2010/main" val="415705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3FA6-CB3D-48FF-AAB9-7DEAD6A1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1(RECURSIVE MOVE)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8E8F8-4162-4114-8B67-012724E10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1: Two Cannibals Cross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CA48D-90C9-4CDA-B1D8-5409E5046417}"/>
              </a:ext>
            </a:extLst>
          </p:cNvPr>
          <p:cNvSpPr/>
          <p:nvPr/>
        </p:nvSpPr>
        <p:spPr>
          <a:xfrm>
            <a:off x="1152939" y="3518452"/>
            <a:ext cx="3389244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 BANK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04DF-7B4C-4512-9755-7E3D03760EE5}"/>
              </a:ext>
            </a:extLst>
          </p:cNvPr>
          <p:cNvSpPr/>
          <p:nvPr/>
        </p:nvSpPr>
        <p:spPr>
          <a:xfrm>
            <a:off x="5257800" y="4204252"/>
            <a:ext cx="2802835" cy="337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70E05-0B7D-4E1D-BFE5-92965FD39E86}"/>
              </a:ext>
            </a:extLst>
          </p:cNvPr>
          <p:cNvSpPr/>
          <p:nvPr/>
        </p:nvSpPr>
        <p:spPr>
          <a:xfrm>
            <a:off x="8435008" y="3518452"/>
            <a:ext cx="2918791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BANK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D5C899-EDE2-44DC-90E5-10388BD647A2}"/>
              </a:ext>
            </a:extLst>
          </p:cNvPr>
          <p:cNvSpPr/>
          <p:nvPr/>
        </p:nvSpPr>
        <p:spPr>
          <a:xfrm>
            <a:off x="1075081" y="240868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978BA4-D010-42E1-B0A6-3947EF21D0F8}"/>
              </a:ext>
            </a:extLst>
          </p:cNvPr>
          <p:cNvSpPr/>
          <p:nvPr/>
        </p:nvSpPr>
        <p:spPr>
          <a:xfrm>
            <a:off x="1901267" y="2387242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04BC49-71EE-493C-AE5E-30CBCD1E1735}"/>
              </a:ext>
            </a:extLst>
          </p:cNvPr>
          <p:cNvSpPr/>
          <p:nvPr/>
        </p:nvSpPr>
        <p:spPr>
          <a:xfrm>
            <a:off x="2775505" y="2364698"/>
            <a:ext cx="631133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23FEB8-BA92-4548-A13D-3B82756F8F9E}"/>
              </a:ext>
            </a:extLst>
          </p:cNvPr>
          <p:cNvSpPr/>
          <p:nvPr/>
        </p:nvSpPr>
        <p:spPr>
          <a:xfrm>
            <a:off x="1152939" y="299835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B96250-24BD-4DEF-851C-14D9F7096E9D}"/>
              </a:ext>
            </a:extLst>
          </p:cNvPr>
          <p:cNvSpPr/>
          <p:nvPr/>
        </p:nvSpPr>
        <p:spPr>
          <a:xfrm>
            <a:off x="3620947" y="2304878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358767-1DD3-406F-AEC6-CB9617396AD7}"/>
              </a:ext>
            </a:extLst>
          </p:cNvPr>
          <p:cNvSpPr/>
          <p:nvPr/>
        </p:nvSpPr>
        <p:spPr>
          <a:xfrm>
            <a:off x="4167599" y="2276190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3" name="Flowchart: Display 12">
            <a:extLst>
              <a:ext uri="{FF2B5EF4-FFF2-40B4-BE49-F238E27FC236}">
                <a16:creationId xmlns:a16="http://schemas.microsoft.com/office/drawing/2014/main" id="{FE43483A-F5C0-4EBD-9ADC-A115E29C4521}"/>
              </a:ext>
            </a:extLst>
          </p:cNvPr>
          <p:cNvSpPr/>
          <p:nvPr/>
        </p:nvSpPr>
        <p:spPr>
          <a:xfrm>
            <a:off x="3406638" y="2865597"/>
            <a:ext cx="1370770" cy="522995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BOAT</a:t>
            </a:r>
          </a:p>
        </p:txBody>
      </p:sp>
    </p:spTree>
    <p:extLst>
      <p:ext uri="{BB962C8B-B14F-4D97-AF65-F5344CB8AC3E}">
        <p14:creationId xmlns:p14="http://schemas.microsoft.com/office/powerpoint/2010/main" val="320004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48148E-6 L 0.47317 -0.0067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59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04167E-6 -4.44444E-6 L 0.48359 -0.0182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80" y="-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70833E-6 2.22222E-6 L 0.49831 -0.0171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09" y="-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3FA6-CB3D-48FF-AAB9-7DEAD6A1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(RETURN MOVE)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8E8F8-4162-4114-8B67-012724E10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2: One Cannibal Returns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CA48D-90C9-4CDA-B1D8-5409E5046417}"/>
              </a:ext>
            </a:extLst>
          </p:cNvPr>
          <p:cNvSpPr/>
          <p:nvPr/>
        </p:nvSpPr>
        <p:spPr>
          <a:xfrm>
            <a:off x="1152939" y="3518452"/>
            <a:ext cx="3389244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 BANK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04DF-7B4C-4512-9755-7E3D03760EE5}"/>
              </a:ext>
            </a:extLst>
          </p:cNvPr>
          <p:cNvSpPr/>
          <p:nvPr/>
        </p:nvSpPr>
        <p:spPr>
          <a:xfrm>
            <a:off x="5257800" y="4204252"/>
            <a:ext cx="2802835" cy="337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70E05-0B7D-4E1D-BFE5-92965FD39E86}"/>
              </a:ext>
            </a:extLst>
          </p:cNvPr>
          <p:cNvSpPr/>
          <p:nvPr/>
        </p:nvSpPr>
        <p:spPr>
          <a:xfrm>
            <a:off x="8435008" y="3518452"/>
            <a:ext cx="2918791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BANK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D5C899-EDE2-44DC-90E5-10388BD647A2}"/>
              </a:ext>
            </a:extLst>
          </p:cNvPr>
          <p:cNvSpPr/>
          <p:nvPr/>
        </p:nvSpPr>
        <p:spPr>
          <a:xfrm>
            <a:off x="1075081" y="240868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978BA4-D010-42E1-B0A6-3947EF21D0F8}"/>
              </a:ext>
            </a:extLst>
          </p:cNvPr>
          <p:cNvSpPr/>
          <p:nvPr/>
        </p:nvSpPr>
        <p:spPr>
          <a:xfrm>
            <a:off x="1901267" y="2387242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04BC49-71EE-493C-AE5E-30CBCD1E1735}"/>
              </a:ext>
            </a:extLst>
          </p:cNvPr>
          <p:cNvSpPr/>
          <p:nvPr/>
        </p:nvSpPr>
        <p:spPr>
          <a:xfrm>
            <a:off x="2775505" y="2364698"/>
            <a:ext cx="631133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23FEB8-BA92-4548-A13D-3B82756F8F9E}"/>
              </a:ext>
            </a:extLst>
          </p:cNvPr>
          <p:cNvSpPr/>
          <p:nvPr/>
        </p:nvSpPr>
        <p:spPr>
          <a:xfrm>
            <a:off x="1152939" y="299835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B96250-24BD-4DEF-851C-14D9F7096E9D}"/>
              </a:ext>
            </a:extLst>
          </p:cNvPr>
          <p:cNvSpPr/>
          <p:nvPr/>
        </p:nvSpPr>
        <p:spPr>
          <a:xfrm>
            <a:off x="9347751" y="2214839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358767-1DD3-406F-AEC6-CB9617396AD7}"/>
              </a:ext>
            </a:extLst>
          </p:cNvPr>
          <p:cNvSpPr/>
          <p:nvPr/>
        </p:nvSpPr>
        <p:spPr>
          <a:xfrm>
            <a:off x="10033136" y="2200093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3" name="Flowchart: Display 12">
            <a:extLst>
              <a:ext uri="{FF2B5EF4-FFF2-40B4-BE49-F238E27FC236}">
                <a16:creationId xmlns:a16="http://schemas.microsoft.com/office/drawing/2014/main" id="{FE43483A-F5C0-4EBD-9ADC-A115E29C4521}"/>
              </a:ext>
            </a:extLst>
          </p:cNvPr>
          <p:cNvSpPr/>
          <p:nvPr/>
        </p:nvSpPr>
        <p:spPr>
          <a:xfrm>
            <a:off x="9209018" y="2806887"/>
            <a:ext cx="1370770" cy="522995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BOAT</a:t>
            </a:r>
          </a:p>
        </p:txBody>
      </p:sp>
    </p:spTree>
    <p:extLst>
      <p:ext uri="{BB962C8B-B14F-4D97-AF65-F5344CB8AC3E}">
        <p14:creationId xmlns:p14="http://schemas.microsoft.com/office/powerpoint/2010/main" val="229702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-0.47396 0.012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98" y="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-0.44427 0.0254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14" y="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3FA6-CB3D-48FF-AAB9-7DEAD6A1F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9241"/>
            <a:ext cx="10515600" cy="1325563"/>
          </a:xfrm>
        </p:spPr>
        <p:txBody>
          <a:bodyPr/>
          <a:lstStyle/>
          <a:p>
            <a:r>
              <a:rPr lang="en-US" dirty="0"/>
              <a:t>STEP 3 (MISSIONARY MOVES)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8E8F8-4162-4114-8B67-012724E10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3: one missionary crosses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CA48D-90C9-4CDA-B1D8-5409E5046417}"/>
              </a:ext>
            </a:extLst>
          </p:cNvPr>
          <p:cNvSpPr/>
          <p:nvPr/>
        </p:nvSpPr>
        <p:spPr>
          <a:xfrm>
            <a:off x="1152939" y="3518452"/>
            <a:ext cx="3389244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 BANK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04DF-7B4C-4512-9755-7E3D03760EE5}"/>
              </a:ext>
            </a:extLst>
          </p:cNvPr>
          <p:cNvSpPr/>
          <p:nvPr/>
        </p:nvSpPr>
        <p:spPr>
          <a:xfrm>
            <a:off x="5257800" y="4204252"/>
            <a:ext cx="2802835" cy="337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70E05-0B7D-4E1D-BFE5-92965FD39E86}"/>
              </a:ext>
            </a:extLst>
          </p:cNvPr>
          <p:cNvSpPr/>
          <p:nvPr/>
        </p:nvSpPr>
        <p:spPr>
          <a:xfrm>
            <a:off x="8435008" y="3518452"/>
            <a:ext cx="2918791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BANK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D5C899-EDE2-44DC-90E5-10388BD647A2}"/>
              </a:ext>
            </a:extLst>
          </p:cNvPr>
          <p:cNvSpPr/>
          <p:nvPr/>
        </p:nvSpPr>
        <p:spPr>
          <a:xfrm>
            <a:off x="1075081" y="240868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978BA4-D010-42E1-B0A6-3947EF21D0F8}"/>
              </a:ext>
            </a:extLst>
          </p:cNvPr>
          <p:cNvSpPr/>
          <p:nvPr/>
        </p:nvSpPr>
        <p:spPr>
          <a:xfrm>
            <a:off x="1901267" y="2387242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04BC49-71EE-493C-AE5E-30CBCD1E1735}"/>
              </a:ext>
            </a:extLst>
          </p:cNvPr>
          <p:cNvSpPr/>
          <p:nvPr/>
        </p:nvSpPr>
        <p:spPr>
          <a:xfrm>
            <a:off x="3660088" y="2359353"/>
            <a:ext cx="631133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23FEB8-BA92-4548-A13D-3B82756F8F9E}"/>
              </a:ext>
            </a:extLst>
          </p:cNvPr>
          <p:cNvSpPr/>
          <p:nvPr/>
        </p:nvSpPr>
        <p:spPr>
          <a:xfrm>
            <a:off x="1152939" y="299835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B96250-24BD-4DEF-851C-14D9F7096E9D}"/>
              </a:ext>
            </a:extLst>
          </p:cNvPr>
          <p:cNvSpPr/>
          <p:nvPr/>
        </p:nvSpPr>
        <p:spPr>
          <a:xfrm>
            <a:off x="1970639" y="2948859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358767-1DD3-406F-AEC6-CB9617396AD7}"/>
              </a:ext>
            </a:extLst>
          </p:cNvPr>
          <p:cNvSpPr/>
          <p:nvPr/>
        </p:nvSpPr>
        <p:spPr>
          <a:xfrm>
            <a:off x="2652815" y="2971800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3" name="Flowchart: Display 12">
            <a:extLst>
              <a:ext uri="{FF2B5EF4-FFF2-40B4-BE49-F238E27FC236}">
                <a16:creationId xmlns:a16="http://schemas.microsoft.com/office/drawing/2014/main" id="{FE43483A-F5C0-4EBD-9ADC-A115E29C4521}"/>
              </a:ext>
            </a:extLst>
          </p:cNvPr>
          <p:cNvSpPr/>
          <p:nvPr/>
        </p:nvSpPr>
        <p:spPr>
          <a:xfrm>
            <a:off x="3334992" y="2906005"/>
            <a:ext cx="1370770" cy="522995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BOAT</a:t>
            </a:r>
          </a:p>
        </p:txBody>
      </p:sp>
    </p:spTree>
    <p:extLst>
      <p:ext uri="{BB962C8B-B14F-4D97-AF65-F5344CB8AC3E}">
        <p14:creationId xmlns:p14="http://schemas.microsoft.com/office/powerpoint/2010/main" val="371828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44444E-6 L 0.43906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5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1481E-6 L 0.4444 -0.0053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14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3FA6-CB3D-48FF-AAB9-7DEAD6A1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8E8F8-4162-4114-8B67-012724E10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4815"/>
            <a:ext cx="10483094" cy="52380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Recursive Backtracking</a:t>
            </a:r>
          </a:p>
          <a:p>
            <a:r>
              <a:rPr lang="en-US" dirty="0"/>
              <a:t>Some recursive paths lead to invalid states</a:t>
            </a:r>
          </a:p>
          <a:p>
            <a:r>
              <a:rPr lang="en-US" dirty="0"/>
              <a:t>When </a:t>
            </a:r>
            <a:r>
              <a:rPr lang="en-US" dirty="0" err="1"/>
              <a:t>contraints</a:t>
            </a:r>
            <a:r>
              <a:rPr lang="en-US" dirty="0"/>
              <a:t> are violated: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The AI backtracks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Tries a different move . This avoids missionaries being eaten</a:t>
            </a:r>
          </a:p>
          <a:p>
            <a:pPr marL="0" indent="0">
              <a:buNone/>
            </a:pPr>
            <a:r>
              <a:rPr lang="en-US" sz="3200" dirty="0"/>
              <a:t>                       </a:t>
            </a:r>
            <a:r>
              <a:rPr lang="en-US" sz="4800" dirty="0"/>
              <a:t>INVALID STATE </a:t>
            </a:r>
          </a:p>
          <a:p>
            <a:pPr marL="0" indent="0">
              <a:buNone/>
            </a:pPr>
            <a:r>
              <a:rPr lang="en-US" sz="4800" dirty="0"/>
              <a:t>                      </a:t>
            </a:r>
            <a:r>
              <a:rPr lang="en-US" dirty="0"/>
              <a:t>BACKTRACKING….</a:t>
            </a:r>
          </a:p>
          <a:p>
            <a:pPr marL="0" indent="0">
              <a:buNone/>
            </a:pPr>
            <a:r>
              <a:rPr lang="en-US" sz="4800" dirty="0"/>
              <a:t>                  </a:t>
            </a:r>
            <a:r>
              <a:rPr lang="en-US" dirty="0"/>
              <a:t>RETURNING TO PREVIOUS STATE</a:t>
            </a:r>
            <a:endParaRPr lang="en-US" sz="4800" dirty="0"/>
          </a:p>
          <a:p>
            <a:pPr marL="0" indent="0">
              <a:buNone/>
            </a:pPr>
            <a:r>
              <a:rPr lang="en-US" sz="4000" dirty="0"/>
              <a:t>                         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CA48D-90C9-4CDA-B1D8-5409E5046417}"/>
              </a:ext>
            </a:extLst>
          </p:cNvPr>
          <p:cNvSpPr/>
          <p:nvPr/>
        </p:nvSpPr>
        <p:spPr>
          <a:xfrm>
            <a:off x="771466" y="5603185"/>
            <a:ext cx="3389244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 BANK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B04DF-7B4C-4512-9755-7E3D03760EE5}"/>
              </a:ext>
            </a:extLst>
          </p:cNvPr>
          <p:cNvSpPr/>
          <p:nvPr/>
        </p:nvSpPr>
        <p:spPr>
          <a:xfrm>
            <a:off x="4864892" y="6154944"/>
            <a:ext cx="2802835" cy="337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70E05-0B7D-4E1D-BFE5-92965FD39E86}"/>
              </a:ext>
            </a:extLst>
          </p:cNvPr>
          <p:cNvSpPr/>
          <p:nvPr/>
        </p:nvSpPr>
        <p:spPr>
          <a:xfrm>
            <a:off x="8523633" y="5183113"/>
            <a:ext cx="2918791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BANK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D5C899-EDE2-44DC-90E5-10388BD647A2}"/>
              </a:ext>
            </a:extLst>
          </p:cNvPr>
          <p:cNvSpPr/>
          <p:nvPr/>
        </p:nvSpPr>
        <p:spPr>
          <a:xfrm>
            <a:off x="1075081" y="3871148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978BA4-D010-42E1-B0A6-3947EF21D0F8}"/>
              </a:ext>
            </a:extLst>
          </p:cNvPr>
          <p:cNvSpPr/>
          <p:nvPr/>
        </p:nvSpPr>
        <p:spPr>
          <a:xfrm>
            <a:off x="1996106" y="3913598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04BC49-71EE-493C-AE5E-30CBCD1E1735}"/>
              </a:ext>
            </a:extLst>
          </p:cNvPr>
          <p:cNvSpPr/>
          <p:nvPr/>
        </p:nvSpPr>
        <p:spPr>
          <a:xfrm>
            <a:off x="8788680" y="3849682"/>
            <a:ext cx="631133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23FEB8-BA92-4548-A13D-3B82756F8F9E}"/>
              </a:ext>
            </a:extLst>
          </p:cNvPr>
          <p:cNvSpPr/>
          <p:nvPr/>
        </p:nvSpPr>
        <p:spPr>
          <a:xfrm>
            <a:off x="1075081" y="4614974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B96250-24BD-4DEF-851C-14D9F7096E9D}"/>
              </a:ext>
            </a:extLst>
          </p:cNvPr>
          <p:cNvSpPr/>
          <p:nvPr/>
        </p:nvSpPr>
        <p:spPr>
          <a:xfrm>
            <a:off x="2018677" y="4572137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358767-1DD3-406F-AEC6-CB9617396AD7}"/>
              </a:ext>
            </a:extLst>
          </p:cNvPr>
          <p:cNvSpPr/>
          <p:nvPr/>
        </p:nvSpPr>
        <p:spPr>
          <a:xfrm>
            <a:off x="2802211" y="4602615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3" name="Flowchart: Display 12">
            <a:extLst>
              <a:ext uri="{FF2B5EF4-FFF2-40B4-BE49-F238E27FC236}">
                <a16:creationId xmlns:a16="http://schemas.microsoft.com/office/drawing/2014/main" id="{FE43483A-F5C0-4EBD-9ADC-A115E29C4521}"/>
              </a:ext>
            </a:extLst>
          </p:cNvPr>
          <p:cNvSpPr/>
          <p:nvPr/>
        </p:nvSpPr>
        <p:spPr>
          <a:xfrm>
            <a:off x="8523633" y="4483500"/>
            <a:ext cx="1370770" cy="522995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BOAT</a:t>
            </a:r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EE40A63F-6E2E-4EC5-A433-93A20516EA15}"/>
              </a:ext>
            </a:extLst>
          </p:cNvPr>
          <p:cNvSpPr/>
          <p:nvPr/>
        </p:nvSpPr>
        <p:spPr>
          <a:xfrm rot="18922203">
            <a:off x="6978260" y="3542242"/>
            <a:ext cx="894522" cy="884583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9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00"/>
                            </p:stCondLst>
                            <p:childTnLst>
                              <p:par>
                                <p:cTn id="32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2" animBg="1"/>
      <p:bldP spid="14" grpId="3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77EE-6876-4287-A612-AE848DE2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 RECURSION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94CDC4-30E7-4F75-9567-ADC10FDA9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8ED57-0CCE-4C19-AED3-460702E1F3CF}"/>
              </a:ext>
            </a:extLst>
          </p:cNvPr>
          <p:cNvSpPr/>
          <p:nvPr/>
        </p:nvSpPr>
        <p:spPr>
          <a:xfrm>
            <a:off x="1152939" y="3518452"/>
            <a:ext cx="3389244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 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8DED9-D476-48F7-9F03-4CDBC4CE00D7}"/>
              </a:ext>
            </a:extLst>
          </p:cNvPr>
          <p:cNvSpPr/>
          <p:nvPr/>
        </p:nvSpPr>
        <p:spPr>
          <a:xfrm>
            <a:off x="5257800" y="4204252"/>
            <a:ext cx="2802835" cy="337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97F144-AAB6-4DC3-A74A-D4888F34687B}"/>
              </a:ext>
            </a:extLst>
          </p:cNvPr>
          <p:cNvSpPr/>
          <p:nvPr/>
        </p:nvSpPr>
        <p:spPr>
          <a:xfrm>
            <a:off x="8435008" y="3518452"/>
            <a:ext cx="2918791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BANK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3EEEC2-232B-4142-86C4-563D5AEDAE08}"/>
              </a:ext>
            </a:extLst>
          </p:cNvPr>
          <p:cNvSpPr/>
          <p:nvPr/>
        </p:nvSpPr>
        <p:spPr>
          <a:xfrm>
            <a:off x="1075081" y="240868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E9FFF5-C3C1-456E-95AF-EA37D90194EC}"/>
              </a:ext>
            </a:extLst>
          </p:cNvPr>
          <p:cNvSpPr/>
          <p:nvPr/>
        </p:nvSpPr>
        <p:spPr>
          <a:xfrm>
            <a:off x="2847561" y="2358129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700BA8-E8F2-4F72-9C3A-BE00CA740DF6}"/>
              </a:ext>
            </a:extLst>
          </p:cNvPr>
          <p:cNvSpPr/>
          <p:nvPr/>
        </p:nvSpPr>
        <p:spPr>
          <a:xfrm>
            <a:off x="1931503" y="2402163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2DFD7B-6F48-4376-B499-CF13AE8F7746}"/>
              </a:ext>
            </a:extLst>
          </p:cNvPr>
          <p:cNvSpPr/>
          <p:nvPr/>
        </p:nvSpPr>
        <p:spPr>
          <a:xfrm>
            <a:off x="1152939" y="299835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23A0C88-A77A-4001-A08B-22DF3CF01755}"/>
              </a:ext>
            </a:extLst>
          </p:cNvPr>
          <p:cNvSpPr/>
          <p:nvPr/>
        </p:nvSpPr>
        <p:spPr>
          <a:xfrm>
            <a:off x="2761420" y="3029804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8699C3-9738-4AED-A0E6-511B00123861}"/>
              </a:ext>
            </a:extLst>
          </p:cNvPr>
          <p:cNvSpPr/>
          <p:nvPr/>
        </p:nvSpPr>
        <p:spPr>
          <a:xfrm>
            <a:off x="1900030" y="299835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6" name="Flowchart: Display 15">
            <a:extLst>
              <a:ext uri="{FF2B5EF4-FFF2-40B4-BE49-F238E27FC236}">
                <a16:creationId xmlns:a16="http://schemas.microsoft.com/office/drawing/2014/main" id="{BA2C3906-20CA-4F40-840A-ED218796F64D}"/>
              </a:ext>
            </a:extLst>
          </p:cNvPr>
          <p:cNvSpPr/>
          <p:nvPr/>
        </p:nvSpPr>
        <p:spPr>
          <a:xfrm>
            <a:off x="3508511" y="2906005"/>
            <a:ext cx="1370770" cy="522995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BOAT</a:t>
            </a:r>
          </a:p>
        </p:txBody>
      </p:sp>
    </p:spTree>
    <p:extLst>
      <p:ext uri="{BB962C8B-B14F-4D97-AF65-F5344CB8AC3E}">
        <p14:creationId xmlns:p14="http://schemas.microsoft.com/office/powerpoint/2010/main" val="89485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44444E-6 L 0.37175 0.0134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81" y="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 -0.00115 L 0.5095 -0.0259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34" y="-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48148E-6 L 0.55091 -0.0027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539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747 -0.0039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44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81481E-6 L 0.64818 -0.019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409" y="-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85185E-6 L 0.74231 0.0018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09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-7.40741E-7 L 0.79518 -0.0208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466" y="-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77EE-6876-4287-A612-AE848DE2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STATE(FINAL)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94CDC4-30E7-4F75-9567-ADC10FDA9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GOAL STATE REACHED(</a:t>
            </a:r>
            <a:r>
              <a:rPr lang="en-US" sz="2400" dirty="0"/>
              <a:t>all missionaries and cannibals have crossed safely)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8ED57-0CCE-4C19-AED3-460702E1F3CF}"/>
              </a:ext>
            </a:extLst>
          </p:cNvPr>
          <p:cNvSpPr/>
          <p:nvPr/>
        </p:nvSpPr>
        <p:spPr>
          <a:xfrm>
            <a:off x="1152939" y="3518452"/>
            <a:ext cx="3389244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 BANK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8DED9-D476-48F7-9F03-4CDBC4CE00D7}"/>
              </a:ext>
            </a:extLst>
          </p:cNvPr>
          <p:cNvSpPr/>
          <p:nvPr/>
        </p:nvSpPr>
        <p:spPr>
          <a:xfrm>
            <a:off x="5257800" y="4204252"/>
            <a:ext cx="2802835" cy="337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97F144-AAB6-4DC3-A74A-D4888F34687B}"/>
              </a:ext>
            </a:extLst>
          </p:cNvPr>
          <p:cNvSpPr/>
          <p:nvPr/>
        </p:nvSpPr>
        <p:spPr>
          <a:xfrm>
            <a:off x="8435008" y="3518452"/>
            <a:ext cx="2918791" cy="1023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BANK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3EEEC2-232B-4142-86C4-563D5AEDAE08}"/>
              </a:ext>
            </a:extLst>
          </p:cNvPr>
          <p:cNvSpPr/>
          <p:nvPr/>
        </p:nvSpPr>
        <p:spPr>
          <a:xfrm>
            <a:off x="9360695" y="2345013"/>
            <a:ext cx="558761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E9FFF5-C3C1-456E-95AF-EA37D90194EC}"/>
              </a:ext>
            </a:extLst>
          </p:cNvPr>
          <p:cNvSpPr/>
          <p:nvPr/>
        </p:nvSpPr>
        <p:spPr>
          <a:xfrm>
            <a:off x="10033136" y="2345013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700BA8-E8F2-4F72-9C3A-BE00CA740DF6}"/>
              </a:ext>
            </a:extLst>
          </p:cNvPr>
          <p:cNvSpPr/>
          <p:nvPr/>
        </p:nvSpPr>
        <p:spPr>
          <a:xfrm>
            <a:off x="10693468" y="2362407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2DFD7B-6F48-4376-B499-CF13AE8F7746}"/>
              </a:ext>
            </a:extLst>
          </p:cNvPr>
          <p:cNvSpPr/>
          <p:nvPr/>
        </p:nvSpPr>
        <p:spPr>
          <a:xfrm>
            <a:off x="9634021" y="2993784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23A0C88-A77A-4001-A08B-22DF3CF01755}"/>
              </a:ext>
            </a:extLst>
          </p:cNvPr>
          <p:cNvSpPr/>
          <p:nvPr/>
        </p:nvSpPr>
        <p:spPr>
          <a:xfrm>
            <a:off x="10807147" y="3027518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8699C3-9738-4AED-A0E6-511B00123861}"/>
              </a:ext>
            </a:extLst>
          </p:cNvPr>
          <p:cNvSpPr/>
          <p:nvPr/>
        </p:nvSpPr>
        <p:spPr>
          <a:xfrm>
            <a:off x="10260496" y="3016526"/>
            <a:ext cx="546652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6" name="Flowchart: Display 15">
            <a:extLst>
              <a:ext uri="{FF2B5EF4-FFF2-40B4-BE49-F238E27FC236}">
                <a16:creationId xmlns:a16="http://schemas.microsoft.com/office/drawing/2014/main" id="{BA2C3906-20CA-4F40-840A-ED218796F64D}"/>
              </a:ext>
            </a:extLst>
          </p:cNvPr>
          <p:cNvSpPr/>
          <p:nvPr/>
        </p:nvSpPr>
        <p:spPr>
          <a:xfrm>
            <a:off x="8103605" y="2958288"/>
            <a:ext cx="1370770" cy="522995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BOAT</a:t>
            </a:r>
          </a:p>
        </p:txBody>
      </p:sp>
    </p:spTree>
    <p:extLst>
      <p:ext uri="{BB962C8B-B14F-4D97-AF65-F5344CB8AC3E}">
        <p14:creationId xmlns:p14="http://schemas.microsoft.com/office/powerpoint/2010/main" val="115291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E25F-D4A5-426F-89EB-DBC6522CF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ANIMATION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C6E71-4AB7-462B-924B-FA975036F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IMPORTANCE OF ANIMATION</a:t>
            </a:r>
          </a:p>
          <a:p>
            <a:r>
              <a:rPr lang="en-US" dirty="0"/>
              <a:t>Makes recursive AI behavior easy to understand</a:t>
            </a:r>
          </a:p>
          <a:p>
            <a:r>
              <a:rPr lang="en-US" dirty="0"/>
              <a:t>Visualizes: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State transitions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Constraint checking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Backtracking</a:t>
            </a:r>
          </a:p>
          <a:p>
            <a:r>
              <a:rPr lang="en-US" dirty="0"/>
              <a:t>Improves explanation of state-space search</a:t>
            </a:r>
          </a:p>
        </p:txBody>
      </p:sp>
    </p:spTree>
    <p:extLst>
      <p:ext uri="{BB962C8B-B14F-4D97-AF65-F5344CB8AC3E}">
        <p14:creationId xmlns:p14="http://schemas.microsoft.com/office/powerpoint/2010/main" val="365732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346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ANIMATING A RECURSIVE AI SOLUTION</vt:lpstr>
      <vt:lpstr>PURPOSE OF THE ANIMATION</vt:lpstr>
      <vt:lpstr>RECURSIVE AI OVERVIEW</vt:lpstr>
      <vt:lpstr>VISUAL LEGEND</vt:lpstr>
      <vt:lpstr>INITIAL STATE (STEP 0)</vt:lpstr>
      <vt:lpstr>STEP 1(RECURSIVE MOVE)</vt:lpstr>
      <vt:lpstr>STEP 2 (RETURN MOVE)</vt:lpstr>
      <vt:lpstr>STEP 3 (MISSIONARY MOVES)</vt:lpstr>
      <vt:lpstr>RECURSIVE BACKTRACKING</vt:lpstr>
      <vt:lpstr>CONTINUED RECURSION</vt:lpstr>
      <vt:lpstr>GOAL STATE(FINAL)</vt:lpstr>
      <vt:lpstr>WHY THIS ANIMATION MATTERS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ANIMATING A RECURSIVE AI SOLUTION</dc:title>
  <dc:creator>hp</dc:creator>
  <cp:lastModifiedBy>hp</cp:lastModifiedBy>
  <cp:revision>61</cp:revision>
  <dcterms:created xsi:type="dcterms:W3CDTF">2026-01-09T14:11:01Z</dcterms:created>
  <dcterms:modified xsi:type="dcterms:W3CDTF">2026-01-09T17:51:58Z</dcterms:modified>
</cp:coreProperties>
</file>